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930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8435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E8A820">
              <a:alpha val="12000"/>
            </a:srgbClr>
          </a:solidFill>
          <a:ln w="12700">
            <a:solidFill>
              <a:srgbClr val="E8A82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8046720" y="4114800"/>
            <a:ext cx="2286000" cy="2286000"/>
          </a:xfrm>
          <a:prstGeom prst="ellipse">
            <a:avLst/>
          </a:prstGeom>
          <a:solidFill>
            <a:srgbClr val="E05B24">
              <a:alpha val="18000"/>
            </a:srgbClr>
          </a:solidFill>
          <a:ln w="12700">
            <a:solidFill>
              <a:srgbClr val="E05B24">
                <a:alpha val="18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4320"/>
            <a:ext cx="1249232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13716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E8A820"/>
                </a:solidFill>
              </a:rPr>
              <a:t>PUBLIC SERVICE AI SPRINT · APRIL 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11480" y="1737360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dirty="0">
                <a:solidFill>
                  <a:srgbClr val="FFFFFF"/>
                </a:solidFill>
              </a:rPr>
              <a:t>Welcome to the</a:t>
            </a:r>
            <a:r>
              <a:rPr lang="en-US" sz="4000" dirty="0">
                <a:solidFill>
                  <a:srgbClr val="FFFFFF"/>
                </a:solidFill>
              </a:rPr>
              <a:t>
</a:t>
            </a:r>
            <a:r>
              <a:rPr lang="en-US" sz="3600" b="1" dirty="0">
                <a:solidFill>
                  <a:srgbClr val="E8A820"/>
                </a:solidFill>
              </a:rPr>
              <a:t>Local Chapter For Bhutan(</a:t>
            </a:r>
            <a:r>
              <a:rPr lang="en-US" b="1" dirty="0">
                <a:solidFill>
                  <a:schemeClr val="bg1"/>
                </a:solidFill>
              </a:rPr>
              <a:t>Voice-First Public Services: Exploring Agentic AI Solutions in Bhutan</a:t>
            </a:r>
            <a:r>
              <a:rPr lang="en-US" sz="3600" b="1" dirty="0">
                <a:solidFill>
                  <a:srgbClr val="E8A820"/>
                </a:solidFill>
              </a:rPr>
              <a:t>)</a:t>
            </a:r>
            <a:endParaRPr lang="en-US" sz="2400" dirty="0"/>
          </a:p>
          <a:p>
            <a:pPr marL="0" indent="0" algn="l">
              <a:buNone/>
            </a:pPr>
            <a:r>
              <a:rPr lang="en-US" sz="4000" dirty="0">
                <a:solidFill>
                  <a:srgbClr val="FFFFFF"/>
                </a:solidFill>
              </a:rPr>
              <a:t>Kickoff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411480" y="4375230"/>
            <a:ext cx="4114800" cy="471090"/>
          </a:xfrm>
          <a:prstGeom prst="rect">
            <a:avLst/>
          </a:prstGeom>
          <a:solidFill>
            <a:srgbClr val="E8A820">
              <a:alpha val="10000"/>
            </a:srgbClr>
          </a:solidFill>
          <a:ln w="12700">
            <a:solidFill>
              <a:srgbClr val="E8A820">
                <a:alpha val="3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42062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Arjun Mongar  </a:t>
            </a:r>
            <a:r>
              <a:rPr lang="en-US" sz="1100" dirty="0">
                <a:solidFill>
                  <a:srgbClr val="C8CDD8"/>
                </a:solidFill>
              </a:rPr>
              <a:t>· Local Chapter Lead, Omdena Bhutan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0" y="1463040"/>
            <a:ext cx="2468880" cy="3017520"/>
          </a:xfrm>
          <a:prstGeom prst="rect">
            <a:avLst/>
          </a:prstGeom>
          <a:solidFill>
            <a:srgbClr val="1A2B5E"/>
          </a:solidFill>
          <a:ln w="12700">
            <a:solidFill>
              <a:srgbClr val="E8A82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0" y="16459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E8A820"/>
                </a:solidFill>
              </a:rPr>
              <a:t>65</a:t>
            </a:r>
            <a:endParaRPr lang="en-US" sz="6800" dirty="0"/>
          </a:p>
        </p:txBody>
      </p:sp>
      <p:sp>
        <p:nvSpPr>
          <p:cNvPr id="11" name="Text 8"/>
          <p:cNvSpPr/>
          <p:nvPr/>
        </p:nvSpPr>
        <p:spPr>
          <a:xfrm>
            <a:off x="6400800" y="2514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C8CDD8"/>
                </a:solidFill>
              </a:rPr>
              <a:t>PARTICIPANTS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kern="0" spc="200" dirty="0">
                <a:solidFill>
                  <a:srgbClr val="C8CDD8"/>
                </a:solidFill>
              </a:rPr>
              <a:t>SELECTED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675120" y="3063240"/>
            <a:ext cx="1920240" cy="0"/>
          </a:xfrm>
          <a:prstGeom prst="line">
            <a:avLst/>
          </a:prstGeom>
          <a:noFill/>
          <a:ln w="10160">
            <a:solidFill>
              <a:srgbClr val="E8A82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0" y="3154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8A92A6"/>
                </a:solidFill>
              </a:rPr>
              <a:t>FROM 100+</a:t>
            </a:r>
            <a:endParaRPr lang="en-US" sz="900" dirty="0"/>
          </a:p>
          <a:p>
            <a:pPr marL="0" indent="0" algn="ctr">
              <a:buNone/>
            </a:pPr>
            <a:r>
              <a:rPr lang="en-US" sz="900" kern="0" spc="200" dirty="0">
                <a:solidFill>
                  <a:srgbClr val="8A92A6"/>
                </a:solidFill>
              </a:rPr>
              <a:t>APPLICATIONS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00800" y="3794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E8A820"/>
                </a:solidFill>
              </a:rPr>
              <a:t>4 TEAMS · 4 WEEKS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73152"/>
            <a:ext cx="920931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1371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400" dirty="0">
                <a:solidFill>
                  <a:srgbClr val="E8A820"/>
                </a:solidFill>
              </a:rPr>
              <a:t>WELCOME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" y="1097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A3C"/>
                </a:solidFill>
              </a:rPr>
              <a:t>You Made It — Congratulations!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1691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A92A6"/>
                </a:solidFill>
              </a:rPr>
              <a:t>A message from Arjun Mongar, Local Chapter Lead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65760" y="2103120"/>
            <a:ext cx="40233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2103120"/>
            <a:ext cx="4023360" cy="73152"/>
          </a:xfrm>
          <a:prstGeom prst="rect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0352" y="2240280"/>
            <a:ext cx="3694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A3C"/>
                </a:solidFill>
              </a:rPr>
              <a:t>To Our International Collaborators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30352" y="2761488"/>
            <a:ext cx="36941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340"/>
                </a:solidFill>
              </a:rPr>
              <a:t>Thank you for looking beyond borders and choosing to solve a real problem for the people of Bhutan. Your global perspective, skills, and generosity of time mean everything to this sprint.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09160" y="2103120"/>
            <a:ext cx="40233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2103120"/>
            <a:ext cx="4023360" cy="73152"/>
          </a:xfrm>
          <a:prstGeom prst="rect">
            <a:avLst/>
          </a:prstGeom>
          <a:solidFill>
            <a:srgbClr val="0D7B8C"/>
          </a:solidFill>
          <a:ln w="12700">
            <a:solidFill>
              <a:srgbClr val="0D7B8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73752" y="2240280"/>
            <a:ext cx="3694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A3C"/>
                </a:solidFill>
              </a:rPr>
              <a:t>To All 65 Participants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873752" y="2761488"/>
            <a:ext cx="36941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340"/>
                </a:solidFill>
              </a:rPr>
              <a:t>You were selected from over 100 registrations. That is not a small thing. It reflects your commitment, your background, and your belief that AI can genuinely improve public life.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65760" y="47731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92A6"/>
                </a:solidFill>
              </a:rPr>
              <a:t>"Together, 65 minds from Bhutan, India, Nepal, Egypt, the USA and beyond."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E05B24">
              <a:alpha val="12000"/>
            </a:srgbClr>
          </a:solidFill>
          <a:ln w="12700">
            <a:solidFill>
              <a:srgbClr val="E05B24">
                <a:alpha val="1200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7160"/>
            <a:ext cx="966651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E8A820"/>
                </a:solidFill>
              </a:rPr>
              <a:t>THE PROBLEM WE'RE SOLVING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65760" y="1371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Accessing public services is still unnecessarily complex.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65760" y="2148840"/>
            <a:ext cx="8412480" cy="62179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4"/>
          <p:cNvSpPr/>
          <p:nvPr/>
        </p:nvSpPr>
        <p:spPr>
          <a:xfrm>
            <a:off x="502920" y="222199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51560" y="224028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</a:rPr>
              <a:t>	Users must navigate multiple disconnected steps across different systems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65760" y="2898648"/>
            <a:ext cx="8412480" cy="62179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r>
              <a:rPr lang="en-IN" dirty="0"/>
              <a:t>	</a:t>
            </a:r>
          </a:p>
        </p:txBody>
      </p:sp>
      <p:sp>
        <p:nvSpPr>
          <p:cNvPr id="10" name="Text 7"/>
          <p:cNvSpPr/>
          <p:nvPr/>
        </p:nvSpPr>
        <p:spPr>
          <a:xfrm>
            <a:off x="502920" y="297180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/>
              <a:t>			</a:t>
            </a:r>
          </a:p>
        </p:txBody>
      </p:sp>
      <p:sp>
        <p:nvSpPr>
          <p:cNvPr id="11" name="Text 8"/>
          <p:cNvSpPr/>
          <p:nvPr/>
        </p:nvSpPr>
        <p:spPr>
          <a:xfrm>
            <a:off x="1051560" y="2990088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</a:rPr>
              <a:t>	Systems are not fully integrated — data doesn't flow where it needs to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65760" y="3648456"/>
            <a:ext cx="8412480" cy="62179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372160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051560" y="3739896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</a:rPr>
              <a:t>	Digital platforms are not always accessible to everyone, especially in remote areas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65760" y="44348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8A820"/>
                </a:solidFill>
              </a:rPr>
              <a:t>Before building — we must first validate whether AI can realistically help.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73152"/>
            <a:ext cx="1077686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1371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400" dirty="0">
                <a:solidFill>
                  <a:srgbClr val="E8A820"/>
                </a:solidFill>
              </a:rPr>
              <a:t>OBJECTIVES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11480" y="107899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D7B8C"/>
                </a:solidFill>
              </a:rPr>
              <a:t>Main Objective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11480" y="1481328"/>
            <a:ext cx="8321040" cy="71323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152704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</a:rPr>
              <a:t>Explore the feasibility of using conversational AI, voice interaction, and agent-based workflows to simplify public service requests.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11480" y="23317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D7B8C"/>
                </a:solidFill>
              </a:rPr>
              <a:t>Specific Objectives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2697480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" y="2697480"/>
            <a:ext cx="54864" cy="960120"/>
          </a:xfrm>
          <a:prstGeom prst="rect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" y="27432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8A820"/>
                </a:solidFill>
              </a:rPr>
              <a:t>01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75488" y="301752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A3C"/>
                </a:solidFill>
              </a:rPr>
              <a:t>Understand friction points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75488" y="329184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2A6"/>
                </a:solidFill>
              </a:rPr>
              <a:t>Map where citizens get stuck in public service access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291840" y="2697480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91840" y="2697480"/>
            <a:ext cx="54864" cy="960120"/>
          </a:xfrm>
          <a:prstGeom prst="rect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01568" y="27432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8A820"/>
                </a:solidFill>
              </a:rPr>
              <a:t>02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401568" y="301752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A3C"/>
                </a:solidFill>
              </a:rPr>
              <a:t>Identify realistic use cases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401568" y="329184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2A6"/>
                </a:solidFill>
              </a:rPr>
              <a:t>Find 1–2 problems AI can genuinely help solve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217920" y="2697480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17920" y="2697480"/>
            <a:ext cx="54864" cy="960120"/>
          </a:xfrm>
          <a:prstGeom prst="rect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27648" y="27432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8A820"/>
                </a:solidFill>
              </a:rPr>
              <a:t>03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327648" y="301752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A3C"/>
                </a:solidFill>
              </a:rPr>
              <a:t>Test technical approaches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327648" y="329184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2A6"/>
                </a:solidFill>
              </a:rPr>
              <a:t>Evaluate voice, chat, agents, and workflow tools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65760" y="3813048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65760" y="3813048"/>
            <a:ext cx="54864" cy="960120"/>
          </a:xfrm>
          <a:prstGeom prst="rect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5488" y="385876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8A820"/>
                </a:solidFill>
              </a:rPr>
              <a:t>04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75488" y="413308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A3C"/>
                </a:solidFill>
              </a:rPr>
              <a:t>Explore classification &amp; routing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75488" y="4407408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2A6"/>
                </a:solidFill>
              </a:rPr>
              <a:t>See how AI can read and direct service requests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291840" y="3813048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291840" y="3813048"/>
            <a:ext cx="54864" cy="960120"/>
          </a:xfrm>
          <a:prstGeom prst="rect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401568" y="385876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8A820"/>
                </a:solidFill>
              </a:rPr>
              <a:t>05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3401568" y="413308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A3C"/>
                </a:solidFill>
              </a:rPr>
              <a:t>Define Phase 2 foundation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3401568" y="4407408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2A6"/>
                </a:solidFill>
              </a:rPr>
              <a:t>Lay clear groundwork for the next stage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7160"/>
            <a:ext cx="105156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E8A820"/>
                </a:solidFill>
              </a:rPr>
              <a:t>SPRINT SCOPE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365760" y="1325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we are (and are not) doing in these 4 weeks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65760" y="1920240"/>
            <a:ext cx="5029200" cy="288036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1920240"/>
            <a:ext cx="5029200" cy="384048"/>
          </a:xfrm>
          <a:prstGeom prst="rect">
            <a:avLst/>
          </a:prstGeom>
          <a:solidFill>
            <a:srgbClr val="22865C"/>
          </a:solidFill>
          <a:ln w="12700">
            <a:solidFill>
              <a:srgbClr val="2286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94767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✓  IN SCOPE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23591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— Problem analysis &amp; use case exploration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02920" y="26609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— User journey mapping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2920" y="29626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— Conversational flow experimentation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02920" y="32644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— Basic voice or chat interaction tests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02920" y="3566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— Request classification experiments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02920" y="38679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— Agent workflow experiments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02920" y="41696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— Small prototypes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02920" y="44714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— Feasibility validation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577840" y="1920240"/>
            <a:ext cx="3200400" cy="210312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577840" y="1920240"/>
            <a:ext cx="3200400" cy="384048"/>
          </a:xfrm>
          <a:prstGeom prst="rect">
            <a:avLst/>
          </a:prstGeom>
          <a:solidFill>
            <a:srgbClr val="E05B24">
              <a:alpha val="80000"/>
            </a:srgbClr>
          </a:solidFill>
          <a:ln w="12700">
            <a:solidFill>
              <a:srgbClr val="E05B24">
                <a:alpha val="8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15000" y="194767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✗  NOT THIS SPRINT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715000" y="23957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CDD8"/>
                </a:solidFill>
              </a:rPr>
              <a:t>— No production-ready systems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715000" y="27889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CDD8"/>
                </a:solidFill>
              </a:rPr>
              <a:t>— No full government integrations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715000" y="31821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CDD8"/>
                </a:solidFill>
              </a:rPr>
              <a:t>— No large-scale deployments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715000" y="357530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CDD8"/>
                </a:solidFill>
              </a:rPr>
              <a:t>— No final product delivery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8A820"/>
                </a:solidFill>
              </a:rPr>
              <a:t>This sprint is about learning, not launching.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73152"/>
            <a:ext cx="1090749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1371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400" dirty="0">
                <a:solidFill>
                  <a:srgbClr val="E8A820"/>
                </a:solidFill>
              </a:rPr>
              <a:t>4 TEAMS · 65 PARTICIPANTS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20040" y="1051560"/>
            <a:ext cx="201168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1051560"/>
            <a:ext cx="2011680" cy="5029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07899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TEAM 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16276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A3C"/>
                </a:solidFill>
              </a:rPr>
              <a:t>Research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A3C"/>
                </a:solidFill>
              </a:rPr>
              <a:t>User Analysis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2331720"/>
            <a:ext cx="1645920" cy="0"/>
          </a:xfrm>
          <a:prstGeom prst="line">
            <a:avLst/>
          </a:prstGeom>
          <a:noFill/>
          <a:ln w="6350">
            <a:solidFill>
              <a:srgbClr val="C8CD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23957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150" dirty="0">
                <a:solidFill>
                  <a:srgbClr val="8A92A6"/>
                </a:solidFill>
              </a:rPr>
              <a:t>LEADS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411480" y="25968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A3C"/>
                </a:solidFill>
              </a:rPr>
              <a:t>William Green &amp; Tim Hayes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3154680"/>
            <a:ext cx="1645920" cy="0"/>
          </a:xfrm>
          <a:prstGeom prst="line">
            <a:avLst/>
          </a:prstGeom>
          <a:noFill/>
          <a:ln w="6350">
            <a:solidFill>
              <a:srgbClr val="C8CD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321868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340"/>
                </a:solidFill>
              </a:rPr>
              <a:t>Understand real citizen friction before anyone writes code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40080" y="4279392"/>
            <a:ext cx="1371600" cy="347472"/>
          </a:xfrm>
          <a:prstGeom prst="rect">
            <a:avLst/>
          </a:prstGeom>
          <a:solidFill>
            <a:srgbClr val="1D4ED8">
              <a:alpha val="15000"/>
            </a:srgbClr>
          </a:solidFill>
          <a:ln w="12700">
            <a:solidFill>
              <a:srgbClr val="1D4ED8">
                <a:alpha val="3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428853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</a:rPr>
              <a:t>15 members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496312" y="1051560"/>
            <a:ext cx="201168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496312" y="1051560"/>
            <a:ext cx="201168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587752" y="107899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TEAM 02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587752" y="16276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A3C"/>
                </a:solidFill>
              </a:rPr>
              <a:t>Conversation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A3C"/>
                </a:solidFill>
              </a:rPr>
              <a:t>Design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679192" y="2331720"/>
            <a:ext cx="1645920" cy="0"/>
          </a:xfrm>
          <a:prstGeom prst="line">
            <a:avLst/>
          </a:prstGeom>
          <a:noFill/>
          <a:ln w="6350">
            <a:solidFill>
              <a:srgbClr val="C8CDD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587752" y="23957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150" dirty="0">
                <a:solidFill>
                  <a:srgbClr val="8A92A6"/>
                </a:solidFill>
              </a:rPr>
              <a:t>LEADS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2587752" y="25968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A3C"/>
                </a:solidFill>
              </a:rPr>
              <a:t>Mark Turyahabwa &amp; Dr. Mohammad Hamdy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679192" y="3154680"/>
            <a:ext cx="1645920" cy="0"/>
          </a:xfrm>
          <a:prstGeom prst="line">
            <a:avLst/>
          </a:prstGeom>
          <a:noFill/>
          <a:ln w="6350">
            <a:solidFill>
              <a:srgbClr val="C8CD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587752" y="321868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340"/>
                </a:solidFill>
              </a:rPr>
              <a:t>Design language &amp; logic of how the AI communicates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816352" y="4279392"/>
            <a:ext cx="1371600" cy="347472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816352" y="428853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</a:rPr>
              <a:t>14 members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672584" y="1051560"/>
            <a:ext cx="201168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672584" y="1051560"/>
            <a:ext cx="2011680" cy="50292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64024" y="107899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TEAM 03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764024" y="16276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A3C"/>
                </a:solidFill>
              </a:rPr>
              <a:t>Voice &amp; Chat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A3C"/>
                </a:solidFill>
              </a:rPr>
              <a:t>Prototyping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855464" y="2331720"/>
            <a:ext cx="1645920" cy="0"/>
          </a:xfrm>
          <a:prstGeom prst="line">
            <a:avLst/>
          </a:prstGeom>
          <a:noFill/>
          <a:ln w="6350">
            <a:solidFill>
              <a:srgbClr val="C8CDD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64024" y="23957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150" dirty="0">
                <a:solidFill>
                  <a:srgbClr val="8A92A6"/>
                </a:solidFill>
              </a:rPr>
              <a:t>LEADS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4764024" y="25968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A3C"/>
                </a:solidFill>
              </a:rPr>
              <a:t>Mir Tahmid Hossain &amp; Sagar Panchal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855464" y="3154680"/>
            <a:ext cx="1645920" cy="0"/>
          </a:xfrm>
          <a:prstGeom prst="line">
            <a:avLst/>
          </a:prstGeom>
          <a:noFill/>
          <a:ln w="6350">
            <a:solidFill>
              <a:srgbClr val="C8CDD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764024" y="321868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340"/>
                </a:solidFill>
              </a:rPr>
              <a:t>Build working, testable voice and chat prototypes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4992624" y="4279392"/>
            <a:ext cx="1371600" cy="347472"/>
          </a:xfrm>
          <a:prstGeom prst="rect">
            <a:avLst/>
          </a:prstGeom>
          <a:solidFill>
            <a:srgbClr val="DB2777">
              <a:alpha val="15000"/>
            </a:srgbClr>
          </a:solidFill>
          <a:ln w="12700">
            <a:solidFill>
              <a:srgbClr val="DB2777">
                <a:alpha val="30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992624" y="428853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B2777"/>
                </a:solidFill>
              </a:rPr>
              <a:t>15 members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6848856" y="1051560"/>
            <a:ext cx="201168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848856" y="1051560"/>
            <a:ext cx="201168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940296" y="107899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TEAM 04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6940296" y="16276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A3C"/>
                </a:solidFill>
              </a:rPr>
              <a:t>AI Agents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A3C"/>
                </a:solidFill>
              </a:rPr>
              <a:t>Workflow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7031736" y="2331720"/>
            <a:ext cx="1645920" cy="0"/>
          </a:xfrm>
          <a:prstGeom prst="line">
            <a:avLst/>
          </a:prstGeom>
          <a:noFill/>
          <a:ln w="6350">
            <a:solidFill>
              <a:srgbClr val="C8CDD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940296" y="23957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150" dirty="0">
                <a:solidFill>
                  <a:srgbClr val="8A92A6"/>
                </a:solidFill>
              </a:rPr>
              <a:t>LEADS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6940296" y="25968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A3C"/>
                </a:solidFill>
              </a:rPr>
              <a:t>Divyanshu Singh &amp; Ian Gabriel Fernandez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7031736" y="3154680"/>
            <a:ext cx="1645920" cy="0"/>
          </a:xfrm>
          <a:prstGeom prst="line">
            <a:avLst/>
          </a:prstGeom>
          <a:noFill/>
          <a:ln w="6350">
            <a:solidFill>
              <a:srgbClr val="C8CDD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940296" y="321868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340"/>
                </a:solidFill>
              </a:rPr>
              <a:t>Classify requests, route them, compile Feasibility Report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7168896" y="4279392"/>
            <a:ext cx="1371600" cy="347472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>
                <a:alpha val="3000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168896" y="428853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</a:rPr>
              <a:t>14 members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7160"/>
            <a:ext cx="13716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E8A820"/>
                </a:solidFill>
              </a:rPr>
              <a:t>4-WEEK SPRINT TIMELINE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365760" y="13258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every team is building, week by week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47472" y="1874520"/>
            <a:ext cx="1965960" cy="29718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47472" y="1874520"/>
            <a:ext cx="1965960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0624" y="1901952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W1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50392" y="1938528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Problem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Understanding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38912" y="258775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80" dirty="0">
                <a:solidFill>
                  <a:srgbClr val="1D4ED8"/>
                </a:solidFill>
              </a:rPr>
              <a:t>Days 1–7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38912" y="29077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</a:rPr>
              <a:t>→  User research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38912" y="33192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</a:rPr>
              <a:t>→  Journey mapping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38912" y="37307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</a:rPr>
              <a:t>→  Problem definition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38912" y="41422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</a:rPr>
              <a:t>→  Feasibility hypotheses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496312" y="1874520"/>
            <a:ext cx="1965960" cy="29718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496312" y="1874520"/>
            <a:ext cx="196596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569464" y="1901952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W2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2999232" y="1938528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Solution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Design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587752" y="258775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80" dirty="0">
                <a:solidFill>
                  <a:srgbClr val="7C3AED"/>
                </a:solidFill>
              </a:rPr>
              <a:t>Days 8–14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587752" y="29077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</a:rPr>
              <a:t>→  Conversation flows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2587752" y="33192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</a:rPr>
              <a:t>→  Agent concepts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2587752" y="37307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</a:rPr>
              <a:t>→  Experiment plan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2587752" y="41422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</a:rPr>
              <a:t>→  Technical approach doc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645152" y="1874520"/>
            <a:ext cx="1965960" cy="29718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645152" y="1874520"/>
            <a:ext cx="1965960" cy="65836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18304" y="1901952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W3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5148072" y="1938528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Prototyping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&amp; Testing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736592" y="258775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80" dirty="0">
                <a:solidFill>
                  <a:srgbClr val="DB2777"/>
                </a:solidFill>
              </a:rPr>
              <a:t>Days 15–21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736592" y="29077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</a:rPr>
              <a:t>→  Working prototype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736592" y="33192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</a:rPr>
              <a:t>→  Classification tests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736592" y="37307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</a:rPr>
              <a:t>→  Demo Day!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736592" y="41422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</a:rPr>
              <a:t>→  Evaluation notes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793992" y="1874520"/>
            <a:ext cx="1965960" cy="29718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793992" y="1874520"/>
            <a:ext cx="1965960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867144" y="1901952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W4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96912" y="1938528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Validation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&amp; Wrap-up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885432" y="258775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80" dirty="0">
                <a:solidFill>
                  <a:srgbClr val="D97706"/>
                </a:solidFill>
              </a:rPr>
              <a:t>Days 22–28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6885432" y="29077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</a:rPr>
              <a:t>→  Feasibility Report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885432" y="33192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</a:rPr>
              <a:t>→  Validated use case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6885432" y="37307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</a:rPr>
              <a:t>→  Tech stack pick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6885432" y="41422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</a:rPr>
              <a:t>→  Phase 2 Roadmap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2276856" y="3246120"/>
            <a:ext cx="36576" cy="0"/>
          </a:xfrm>
          <a:prstGeom prst="rect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425696" y="3246120"/>
            <a:ext cx="36576" cy="0"/>
          </a:xfrm>
          <a:prstGeom prst="rect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574536" y="3246120"/>
            <a:ext cx="36576" cy="0"/>
          </a:xfrm>
          <a:prstGeom prst="rect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CDD8"/>
                </a:solidFill>
              </a:rPr>
              <a:t>All-Hands: Day 1 · Day 8 · Day 15 (Demo Day) · Day 22 (Final Showcase)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73152"/>
            <a:ext cx="1031966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1371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400" dirty="0">
                <a:solidFill>
                  <a:srgbClr val="E8A820"/>
                </a:solidFill>
              </a:rPr>
              <a:t>HOW WE COMMUNICATE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11480" y="10972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A3C"/>
                </a:solidFill>
              </a:rPr>
              <a:t>Stay connected. Stay aligned.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1691640"/>
            <a:ext cx="39319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" y="18288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💬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188720" y="1819656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A3C"/>
                </a:solidFill>
              </a:rPr>
              <a:t>WhatsApp Group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88720" y="218541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2A6"/>
                </a:solidFill>
              </a:rPr>
              <a:t>Quick updates, announcements, daily team chatter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17720" y="1691640"/>
            <a:ext cx="39319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754880" y="18288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440680" y="1819656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A3C"/>
                </a:solidFill>
              </a:rPr>
              <a:t>Slack Channel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40680" y="218541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2A6"/>
                </a:solidFill>
              </a:rPr>
              <a:t>Async deep discussions, document sharing, per-team channels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65760" y="3063240"/>
            <a:ext cx="39319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02920" y="32004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📧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1188720" y="3191256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A3C"/>
                </a:solidFill>
              </a:rPr>
              <a:t>Email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88720" y="355701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2A6"/>
                </a:solidFill>
              </a:rPr>
              <a:t>Formal updates, meeting invites, final deliverable submissions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617720" y="3063240"/>
            <a:ext cx="39319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754880" y="32004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5440680" y="3191256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A3C"/>
                </a:solidFill>
              </a:rPr>
              <a:t>Video Meetings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440680" y="355701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2A6"/>
                </a:solidFill>
              </a:rPr>
              <a:t>All-Hands + Team Sync calls — see schedule slide for dates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65760" y="4279392"/>
            <a:ext cx="8412480" cy="56692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430682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A820"/>
                </a:solidFill>
              </a:rPr>
              <a:t>Blocked for more than a day? Tell your Team Lead. Don't wait for the weekly meeting — early blockers get resolved fast.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7160"/>
            <a:ext cx="947057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E8A820"/>
                </a:solidFill>
              </a:rPr>
              <a:t>WHAT IS EXPECTED FROM YOU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365760" y="13258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Six simple commitments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47472" y="1874520"/>
            <a:ext cx="2743200" cy="10972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47472" y="1874520"/>
            <a:ext cx="384048" cy="1097280"/>
          </a:xfrm>
          <a:prstGeom prst="rect">
            <a:avLst/>
          </a:prstGeom>
          <a:solidFill>
            <a:srgbClr val="E8A820">
              <a:alpha val="75000"/>
            </a:srgbClr>
          </a:solidFill>
          <a:ln w="12700">
            <a:solidFill>
              <a:srgbClr val="E8A820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7472" y="219456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A3C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04672" y="1965960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A820"/>
                </a:solidFill>
              </a:rPr>
              <a:t>Show up to meetings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4672" y="2331720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8CDD8"/>
                </a:solidFill>
              </a:rPr>
              <a:t>Attend All-Hands + Team Syncs.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73552" y="1874520"/>
            <a:ext cx="2743200" cy="10972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73552" y="1874520"/>
            <a:ext cx="384048" cy="1097280"/>
          </a:xfrm>
          <a:prstGeom prst="rect">
            <a:avLst/>
          </a:prstGeom>
          <a:solidFill>
            <a:srgbClr val="E8A820">
              <a:alpha val="75000"/>
            </a:srgbClr>
          </a:solidFill>
          <a:ln w="12700">
            <a:solidFill>
              <a:srgbClr val="E8A820">
                <a:alpha val="7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73552" y="219456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A3C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3730752" y="1965960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A820"/>
                </a:solidFill>
              </a:rPr>
              <a:t>Submit weekly deliverables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730752" y="2331720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8CDD8"/>
                </a:solidFill>
              </a:rPr>
              <a:t>Rough and on time beats polished and late — every time.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199632" y="1874520"/>
            <a:ext cx="2743200" cy="10972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99632" y="1874520"/>
            <a:ext cx="384048" cy="1097280"/>
          </a:xfrm>
          <a:prstGeom prst="rect">
            <a:avLst/>
          </a:prstGeom>
          <a:solidFill>
            <a:srgbClr val="E8A820">
              <a:alpha val="75000"/>
            </a:srgbClr>
          </a:solidFill>
          <a:ln w="12700">
            <a:solidFill>
              <a:srgbClr val="E8A820">
                <a:alpha val="7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99632" y="219456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A3C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656832" y="1965960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A820"/>
                </a:solidFill>
              </a:rPr>
              <a:t>Experiment, don't over-engineer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656832" y="2331720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8CDD8"/>
                </a:solidFill>
              </a:rPr>
              <a:t>Build small, test fast, document honestly — even failures.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47472" y="3154680"/>
            <a:ext cx="2743200" cy="10972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47472" y="3154680"/>
            <a:ext cx="384048" cy="1097280"/>
          </a:xfrm>
          <a:prstGeom prst="rect">
            <a:avLst/>
          </a:prstGeom>
          <a:solidFill>
            <a:srgbClr val="E8A820">
              <a:alpha val="75000"/>
            </a:srgbClr>
          </a:solidFill>
          <a:ln w="12700">
            <a:solidFill>
              <a:srgbClr val="E8A820">
                <a:alpha val="7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7472" y="347472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A3C"/>
                </a:solidFill>
              </a:rPr>
              <a:t>4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804672" y="3246120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A820"/>
                </a:solidFill>
              </a:rPr>
              <a:t>Communicate blockers early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" y="3611880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8CDD8"/>
                </a:solidFill>
              </a:rPr>
              <a:t>Stuck for a day? Tell your lead — don't sit on it.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273552" y="3154680"/>
            <a:ext cx="2743200" cy="10972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73552" y="3154680"/>
            <a:ext cx="384048" cy="1097280"/>
          </a:xfrm>
          <a:prstGeom prst="rect">
            <a:avLst/>
          </a:prstGeom>
          <a:solidFill>
            <a:srgbClr val="E8A820">
              <a:alpha val="75000"/>
            </a:srgbClr>
          </a:solidFill>
          <a:ln w="12700">
            <a:solidFill>
              <a:srgbClr val="E8A820">
                <a:alpha val="75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73552" y="347472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A3C"/>
                </a:solidFill>
              </a:rPr>
              <a:t>5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3730752" y="3246120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A820"/>
                </a:solidFill>
              </a:rPr>
              <a:t>Bring your local context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730752" y="3611880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8CDD8"/>
                </a:solidFill>
              </a:rPr>
              <a:t>Your knowledge of public services in your country is an asset here.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6199632" y="3154680"/>
            <a:ext cx="2743200" cy="10972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199632" y="3154680"/>
            <a:ext cx="384048" cy="1097280"/>
          </a:xfrm>
          <a:prstGeom prst="rect">
            <a:avLst/>
          </a:prstGeom>
          <a:solidFill>
            <a:srgbClr val="E8A820">
              <a:alpha val="75000"/>
            </a:srgbClr>
          </a:solidFill>
          <a:ln w="12700">
            <a:solidFill>
              <a:srgbClr val="E8A820">
                <a:alpha val="75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199632" y="347472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A3C"/>
                </a:solidFill>
              </a:rPr>
              <a:t>6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6656832" y="3246120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A820"/>
                </a:solidFill>
              </a:rPr>
              <a:t>Document as you go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656832" y="3611880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8CDD8"/>
                </a:solidFill>
              </a:rPr>
              <a:t>One paragraph per session. Your notes become the Feasibility Report.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1828800"/>
            <a:ext cx="4572000" cy="4572000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E8A820">
              <a:alpha val="10000"/>
            </a:srgbClr>
          </a:solidFill>
          <a:ln w="12700">
            <a:solidFill>
              <a:srgbClr val="E8A820">
                <a:alpha val="10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09728"/>
            <a:ext cx="1943100" cy="1399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508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FFFFFF"/>
                </a:solidFill>
              </a:rPr>
              <a:t>Let's Build Something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21762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A820"/>
                </a:solidFill>
              </a:rPr>
              <a:t>Meaningful for Bhutan.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57200" y="29443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8CDD8"/>
                </a:solidFill>
              </a:rPr>
              <a:t>4 weeks. 4 teams. 65 people. 1 shared mission.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286000" y="3493008"/>
            <a:ext cx="4572000" cy="621792"/>
          </a:xfrm>
          <a:prstGeom prst="rect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0" y="3502152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/>
              <a:t>Tashi Delek! </a:t>
            </a:r>
          </a:p>
        </p:txBody>
      </p:sp>
      <p:sp>
        <p:nvSpPr>
          <p:cNvPr id="10" name="Text 7"/>
          <p:cNvSpPr/>
          <p:nvPr/>
        </p:nvSpPr>
        <p:spPr>
          <a:xfrm>
            <a:off x="457200" y="4727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2A6"/>
                </a:solidFill>
              </a:rPr>
              <a:t>Questions? Reach Arjun Mongar via WhatsApp · Slack · Email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838</Words>
  <Application>Microsoft Office PowerPoint</Application>
  <PresentationFormat>On-screen Show (16:9)</PresentationFormat>
  <Paragraphs>174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CivicAI Sprint — Kickoff</dc:title>
  <dc:subject>PptxGenJS Presentation</dc:subject>
  <dc:creator>PptxGenJS</dc:creator>
  <cp:lastModifiedBy>Arjun Mongar</cp:lastModifiedBy>
  <cp:revision>4</cp:revision>
  <dcterms:created xsi:type="dcterms:W3CDTF">2026-04-17T08:42:12Z</dcterms:created>
  <dcterms:modified xsi:type="dcterms:W3CDTF">2026-04-17T14:06:59Z</dcterms:modified>
</cp:coreProperties>
</file>